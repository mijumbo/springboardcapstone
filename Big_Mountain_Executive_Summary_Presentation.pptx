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J" userId="0768cc571d337da9" providerId="LiveId" clId="{6301A1FA-8A52-41E9-B1DB-3A812A914FC7}"/>
    <pc:docChg chg="undo custSel modSld">
      <pc:chgData name="Michael J" userId="0768cc571d337da9" providerId="LiveId" clId="{6301A1FA-8A52-41E9-B1DB-3A812A914FC7}" dt="2025-11-05T22:35:36.652" v="11" actId="113"/>
      <pc:docMkLst>
        <pc:docMk/>
      </pc:docMkLst>
      <pc:sldChg chg="modSp mod">
        <pc:chgData name="Michael J" userId="0768cc571d337da9" providerId="LiveId" clId="{6301A1FA-8A52-41E9-B1DB-3A812A914FC7}" dt="2025-11-05T22:35:36.652" v="11" actId="113"/>
        <pc:sldMkLst>
          <pc:docMk/>
          <pc:sldMk cId="0" sldId="260"/>
        </pc:sldMkLst>
        <pc:spChg chg="mod">
          <ac:chgData name="Michael J" userId="0768cc571d337da9" providerId="LiveId" clId="{6301A1FA-8A52-41E9-B1DB-3A812A914FC7}" dt="2025-11-05T22:35:36.652" v="11" actId="11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ichael J" userId="0768cc571d337da9" providerId="LiveId" clId="{6301A1FA-8A52-41E9-B1DB-3A812A914FC7}" dt="2025-11-05T22:34:37.443" v="7" actId="115"/>
        <pc:sldMkLst>
          <pc:docMk/>
          <pc:sldMk cId="108163591" sldId="263"/>
        </pc:sldMkLst>
        <pc:spChg chg="mod">
          <ac:chgData name="Michael J" userId="0768cc571d337da9" providerId="LiveId" clId="{6301A1FA-8A52-41E9-B1DB-3A812A914FC7}" dt="2025-11-05T22:34:37.443" v="7" actId="115"/>
          <ac:spMkLst>
            <pc:docMk/>
            <pc:sldMk cId="108163591" sldId="263"/>
            <ac:spMk id="3" creationId="{FBD2902E-6A2F-5379-4CD4-05528C9258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8682"/>
          </a:xfrm>
        </p:spPr>
        <p:txBody>
          <a:bodyPr/>
          <a:lstStyle/>
          <a:p>
            <a:r>
              <a:rPr dirty="0"/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3686"/>
            <a:ext cx="8229600" cy="5159676"/>
          </a:xfrm>
        </p:spPr>
        <p:txBody>
          <a:bodyPr/>
          <a:lstStyle/>
          <a:p>
            <a:pPr marL="0" indent="0" algn="l">
              <a:buNone/>
              <a:defRPr sz="1400"/>
            </a:pPr>
            <a:r>
              <a:rPr sz="1800" b="1" u="sng" dirty="0"/>
              <a:t>Big Mountain Resort — Pricing Misalignment</a:t>
            </a:r>
          </a:p>
          <a:p>
            <a:pPr marL="0" indent="0" algn="l">
              <a:buNone/>
              <a:defRPr sz="1400"/>
            </a:pPr>
            <a:r>
              <a:rPr dirty="0"/>
              <a:t>Key Insights:</a:t>
            </a:r>
          </a:p>
          <a:p>
            <a:pPr>
              <a:defRPr sz="1400"/>
            </a:pPr>
            <a:r>
              <a:rPr dirty="0"/>
              <a:t>Big Mountain’s weekend ticket price is </a:t>
            </a:r>
            <a:r>
              <a:rPr b="1" dirty="0"/>
              <a:t>$81</a:t>
            </a:r>
            <a:r>
              <a:rPr dirty="0"/>
              <a:t>, while comparable resorts charge</a:t>
            </a:r>
            <a:r>
              <a:rPr lang="en-US" dirty="0"/>
              <a:t> </a:t>
            </a:r>
            <a:r>
              <a:rPr lang="en-NG" b="1" dirty="0"/>
              <a:t>90–$96</a:t>
            </a:r>
            <a:endParaRPr b="1" dirty="0"/>
          </a:p>
          <a:p>
            <a:pPr>
              <a:defRPr sz="1400"/>
            </a:pPr>
            <a:r>
              <a:rPr dirty="0"/>
              <a:t>Big Mountain’s state Montana, </a:t>
            </a:r>
            <a:r>
              <a:rPr b="1" dirty="0"/>
              <a:t>median </a:t>
            </a:r>
            <a:r>
              <a:rPr dirty="0"/>
              <a:t>ticket price is </a:t>
            </a:r>
            <a:r>
              <a:rPr b="1" dirty="0"/>
              <a:t>$51 </a:t>
            </a:r>
            <a:r>
              <a:rPr dirty="0"/>
              <a:t>and the natio</a:t>
            </a:r>
            <a:r>
              <a:rPr lang="en-US" dirty="0"/>
              <a:t>nal </a:t>
            </a:r>
            <a:r>
              <a:rPr dirty="0"/>
              <a:t> median: ≈ $60, showing local affordability expectations.</a:t>
            </a:r>
          </a:p>
          <a:p>
            <a:pPr algn="l">
              <a:defRPr sz="1400"/>
            </a:pPr>
            <a:r>
              <a:rPr dirty="0"/>
              <a:t>This suggests a </a:t>
            </a:r>
            <a:r>
              <a:rPr b="1" dirty="0"/>
              <a:t>pricing–value mismatch</a:t>
            </a:r>
            <a:r>
              <a:rPr dirty="0"/>
              <a:t>, not overpricing.</a:t>
            </a:r>
          </a:p>
          <a:p>
            <a:pPr algn="l">
              <a:defRPr sz="1400"/>
            </a:pPr>
            <a:r>
              <a:rPr dirty="0"/>
              <a:t>Aligning price with actual value could unlock new revenue potential.</a:t>
            </a: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r>
              <a:rPr dirty="0"/>
              <a:t>📊</a:t>
            </a:r>
            <a:r>
              <a:rPr sz="1200" b="1" i="1" dirty="0"/>
              <a:t>Figure 1 – Average Ticket Price by Region</a:t>
            </a:r>
            <a:r>
              <a:rPr lang="en-US" sz="1200" b="1" i="1" dirty="0"/>
              <a:t>/State</a:t>
            </a:r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4F06C-7F54-77E0-9A83-1019852F0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28" y="3797742"/>
            <a:ext cx="7613872" cy="278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 of tickets&#10;&#10;AI-generated content may be incorrect.">
            <a:extLst>
              <a:ext uri="{FF2B5EF4-FFF2-40B4-BE49-F238E27FC236}">
                <a16:creationId xmlns:a16="http://schemas.microsoft.com/office/drawing/2014/main" id="{04D74058-C7B6-11C9-E3C2-DBC262E22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02269"/>
            <a:ext cx="8229600" cy="39965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EA5839-C5CD-690E-008D-C4F2C83958B9}"/>
              </a:ext>
            </a:extLst>
          </p:cNvPr>
          <p:cNvSpPr txBox="1"/>
          <p:nvPr/>
        </p:nvSpPr>
        <p:spPr>
          <a:xfrm>
            <a:off x="677333" y="5175748"/>
            <a:ext cx="7823200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14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Takeaway:</a:t>
            </a:r>
            <a:endParaRPr lang="en-NG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14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Big Mountain’s pricing is misaligned — locally premium but regionally and nationally undervalued — indicating a revenue opportunity.</a:t>
            </a:r>
            <a:endParaRPr lang="en-NG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27287-2410-DD8B-E52E-265712FF810A}"/>
              </a:ext>
            </a:extLst>
          </p:cNvPr>
          <p:cNvSpPr txBox="1"/>
          <p:nvPr/>
        </p:nvSpPr>
        <p:spPr>
          <a:xfrm>
            <a:off x="694264" y="88750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  <a:defRPr sz="1400"/>
            </a:pPr>
            <a:r>
              <a:rPr lang="en-US" sz="1200" b="1" i="1" dirty="0"/>
              <a:t>Figure 1 –Median Ticket Price (red) and Average Ticket Price by State</a:t>
            </a:r>
          </a:p>
        </p:txBody>
      </p:sp>
    </p:spTree>
    <p:extLst>
      <p:ext uri="{BB962C8B-B14F-4D97-AF65-F5344CB8AC3E}">
        <p14:creationId xmlns:p14="http://schemas.microsoft.com/office/powerpoint/2010/main" val="2377309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&amp; 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400"/>
            </a:pPr>
            <a:r>
              <a:rPr sz="1800" b="1" u="sng" dirty="0"/>
              <a:t>Building a Data-Driven Pricing Model</a:t>
            </a:r>
          </a:p>
          <a:p>
            <a:pPr marL="0" indent="0" algn="l">
              <a:buNone/>
              <a:defRPr sz="1400"/>
            </a:pPr>
            <a:endParaRPr lang="en-US" b="1" dirty="0"/>
          </a:p>
          <a:p>
            <a:pPr marL="0" indent="0" algn="l">
              <a:buNone/>
              <a:defRPr sz="1400"/>
            </a:pPr>
            <a:endParaRPr lang="en-US" b="1" dirty="0"/>
          </a:p>
          <a:p>
            <a:pPr marL="0" indent="0" algn="l">
              <a:buNone/>
              <a:defRPr sz="1400"/>
            </a:pPr>
            <a:r>
              <a:rPr b="1" dirty="0"/>
              <a:t>Key Points:</a:t>
            </a:r>
          </a:p>
          <a:p>
            <a:pPr algn="l">
              <a:defRPr sz="1400"/>
            </a:pPr>
            <a:r>
              <a:rPr dirty="0"/>
              <a:t>Dataset</a:t>
            </a:r>
            <a:r>
              <a:rPr b="1" dirty="0"/>
              <a:t>: 330 resorts, 27 features </a:t>
            </a:r>
            <a:r>
              <a:rPr dirty="0"/>
              <a:t>(after cleaning</a:t>
            </a:r>
            <a:r>
              <a:rPr b="1" dirty="0"/>
              <a:t>: 277 × 25</a:t>
            </a:r>
            <a:r>
              <a:rPr dirty="0"/>
              <a:t>)</a:t>
            </a:r>
          </a:p>
          <a:p>
            <a:pPr algn="l">
              <a:defRPr sz="1400"/>
            </a:pPr>
            <a:r>
              <a:rPr dirty="0"/>
              <a:t>Key variables: </a:t>
            </a:r>
            <a:r>
              <a:rPr b="1" dirty="0"/>
              <a:t>Vertical Drop, Runs, Lifts, Snowmaking Acres</a:t>
            </a:r>
          </a:p>
          <a:p>
            <a:pPr algn="l">
              <a:defRPr sz="1400"/>
            </a:pPr>
            <a:r>
              <a:rPr dirty="0"/>
              <a:t>Target: </a:t>
            </a:r>
            <a:r>
              <a:rPr b="1" dirty="0"/>
              <a:t>Adult Weekend Price ($)</a:t>
            </a:r>
          </a:p>
          <a:p>
            <a:pPr algn="l">
              <a:defRPr sz="1400"/>
            </a:pPr>
            <a:r>
              <a:rPr dirty="0"/>
              <a:t>Outliers removed, missing data values treated for consistency</a:t>
            </a: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dirty="0"/>
          </a:p>
          <a:p>
            <a:pPr marL="0" indent="0" algn="l">
              <a:buNone/>
              <a:defRPr sz="1400"/>
            </a:pPr>
            <a:r>
              <a:rPr dirty="0"/>
              <a:t>🔄 Flow Diagram</a:t>
            </a:r>
            <a:r>
              <a:rPr sz="2400" b="1" dirty="0"/>
              <a:t>:   Raw Data → Cleaning → Model Inputs → Insights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4172"/>
            <a:ext cx="8229600" cy="694481"/>
          </a:xfrm>
        </p:spPr>
        <p:txBody>
          <a:bodyPr>
            <a:normAutofit fontScale="90000"/>
          </a:bodyPr>
          <a:lstStyle/>
          <a:p>
            <a:r>
              <a:rPr lang="en-US"/>
              <a:t>Model Findings &amp; Recommendation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8653"/>
            <a:ext cx="8229600" cy="5955175"/>
          </a:xfrm>
        </p:spPr>
        <p:txBody>
          <a:bodyPr>
            <a:normAutofit/>
          </a:bodyPr>
          <a:lstStyle/>
          <a:p>
            <a:pPr marL="0" indent="0" algn="l">
              <a:buNone/>
              <a:defRPr sz="1400"/>
            </a:pPr>
            <a:r>
              <a:rPr lang="en-US" sz="1600" b="1" u="sng" dirty="0"/>
              <a:t>Data-Driven Pricing Strategy</a:t>
            </a:r>
          </a:p>
          <a:p>
            <a:pPr marL="0" indent="0" algn="l">
              <a:buNone/>
              <a:defRPr sz="1400"/>
            </a:pPr>
            <a:r>
              <a:rPr lang="en-US" b="1" dirty="0"/>
              <a:t>Key Points:</a:t>
            </a:r>
          </a:p>
          <a:p>
            <a:pPr algn="l">
              <a:defRPr sz="1400"/>
            </a:pPr>
            <a:r>
              <a:rPr lang="en-US" dirty="0"/>
              <a:t>Model-predicted fair price: </a:t>
            </a:r>
            <a:r>
              <a:rPr lang="en-US" b="1" dirty="0"/>
              <a:t>≈ $95.7 </a:t>
            </a:r>
            <a:r>
              <a:rPr lang="en-US" dirty="0"/>
              <a:t>and Actual price: </a:t>
            </a:r>
            <a:r>
              <a:rPr lang="en-US" b="1" dirty="0"/>
              <a:t>$81 → ≈ 18 % undervalued</a:t>
            </a:r>
          </a:p>
          <a:p>
            <a:pPr algn="l">
              <a:defRPr sz="1400"/>
            </a:pPr>
            <a:r>
              <a:rPr lang="en-US" dirty="0"/>
              <a:t>Recommended path:</a:t>
            </a:r>
          </a:p>
          <a:p>
            <a:pPr algn="l">
              <a:defRPr sz="1400"/>
            </a:pPr>
            <a:r>
              <a:rPr lang="en-US" dirty="0"/>
              <a:t>• Raise to </a:t>
            </a:r>
            <a:r>
              <a:rPr lang="en-US" b="1" dirty="0"/>
              <a:t>$92 </a:t>
            </a:r>
            <a:r>
              <a:rPr lang="en-US" dirty="0"/>
              <a:t>short-term</a:t>
            </a:r>
          </a:p>
          <a:p>
            <a:pPr algn="l">
              <a:defRPr sz="1400"/>
            </a:pPr>
            <a:r>
              <a:rPr lang="en-US" dirty="0"/>
              <a:t>• Move to </a:t>
            </a:r>
            <a:r>
              <a:rPr lang="en-US" b="1" dirty="0"/>
              <a:t>$95 </a:t>
            </a:r>
            <a:r>
              <a:rPr lang="en-US" dirty="0"/>
              <a:t>post-lift upgrade</a:t>
            </a:r>
          </a:p>
          <a:p>
            <a:pPr algn="l">
              <a:defRPr sz="1400"/>
            </a:pPr>
            <a:r>
              <a:rPr lang="en-US" dirty="0"/>
              <a:t>Revenue Projection: </a:t>
            </a:r>
            <a:r>
              <a:rPr lang="en-US" b="1" dirty="0"/>
              <a:t>350K visitors * +$2 ≈ $3.5M </a:t>
            </a:r>
            <a:r>
              <a:rPr lang="en-US" dirty="0"/>
              <a:t>seasonal gain — offsets infrastructure costs</a:t>
            </a:r>
          </a:p>
          <a:p>
            <a:pPr algn="l">
              <a:defRPr sz="1400"/>
            </a:pPr>
            <a:r>
              <a:rPr lang="en-US" dirty="0"/>
              <a:t>Key value drivers: Fast lifts, Number of runs, Snowmaking capacity, Vertical drop</a:t>
            </a:r>
          </a:p>
          <a:p>
            <a:pPr marL="0" indent="0" algn="l">
              <a:buNone/>
              <a:defRPr sz="1400"/>
            </a:pPr>
            <a:endParaRPr lang="en-US" b="1" i="1" dirty="0"/>
          </a:p>
          <a:p>
            <a:pPr marL="0" indent="0" algn="l">
              <a:buNone/>
              <a:defRPr sz="1400"/>
            </a:pPr>
            <a:r>
              <a:rPr lang="en-US" sz="1200" b="1" i="1" dirty="0"/>
              <a:t>Figure 2: Feature Importance Bar Chart — Top Predictors</a:t>
            </a:r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algn="l"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r>
              <a:rPr lang="en-US" b="1" dirty="0"/>
              <a:t>Top 4 features: Vertical Drop, Fast Lifts, Number of Runs, Snowmaking Acres</a:t>
            </a:r>
          </a:p>
        </p:txBody>
      </p:sp>
      <p:pic>
        <p:nvPicPr>
          <p:cNvPr id="4" name="Picture 3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7AD9CEF7-3A1F-A75A-B202-51C938E96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7" y="3435666"/>
            <a:ext cx="7757795" cy="2780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Pricing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400"/>
            </a:pPr>
            <a:r>
              <a:rPr sz="1600" b="1" u="sng" dirty="0"/>
              <a:t>Facility Scale Drives Value — Not Geography</a:t>
            </a:r>
          </a:p>
          <a:p>
            <a:pPr algn="l">
              <a:defRPr sz="1400"/>
            </a:pPr>
            <a:r>
              <a:rPr dirty="0"/>
              <a:t>Resorts with greater capacity—more runs, lifts, and snowmaking—command higher prices.</a:t>
            </a:r>
          </a:p>
          <a:p>
            <a:pPr algn="l">
              <a:defRPr sz="1400"/>
            </a:pPr>
            <a:r>
              <a:rPr dirty="0"/>
              <a:t>Vertical drop and lift speed amplify visitor value perception.</a:t>
            </a:r>
          </a:p>
          <a:p>
            <a:pPr algn="l">
              <a:defRPr sz="1400"/>
            </a:pPr>
            <a:r>
              <a:rPr dirty="0"/>
              <a:t>Once these features are accounted for, region and state location contribute little to price variation.</a:t>
            </a:r>
          </a:p>
          <a:p>
            <a:pPr algn="l">
              <a:defRPr sz="1400"/>
            </a:pPr>
            <a:r>
              <a:rPr dirty="0"/>
              <a:t>Infrastructure investment directly correlates with perceived quality and willingness to pay.</a:t>
            </a:r>
          </a:p>
          <a:p>
            <a:pPr algn="l">
              <a:defRPr sz="1400"/>
            </a:pPr>
            <a:r>
              <a:rPr dirty="0"/>
              <a:t>The data confirms: price leadership follows facility scale, not physical location.</a:t>
            </a:r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r>
              <a:rPr b="1" dirty="0"/>
              <a:t>Takeaway:</a:t>
            </a:r>
          </a:p>
          <a:p>
            <a:pPr algn="l">
              <a:defRPr sz="1400"/>
            </a:pPr>
            <a:r>
              <a:rPr b="1" dirty="0"/>
              <a:t>Investing in resort scale and experience yields stronger returns than relying on geographic positioning.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400"/>
            </a:pPr>
            <a:r>
              <a:rPr sz="1600" b="1" u="sng" dirty="0"/>
              <a:t>Predictive Accuracy and Model Selection</a:t>
            </a:r>
          </a:p>
          <a:p>
            <a:pPr marL="0" indent="0" algn="l">
              <a:buNone/>
              <a:defRPr sz="1400"/>
            </a:pPr>
            <a:endParaRPr lang="en-US" b="1" dirty="0"/>
          </a:p>
          <a:p>
            <a:pPr marL="0" indent="0" algn="l">
              <a:buNone/>
              <a:defRPr sz="1400"/>
            </a:pPr>
            <a:r>
              <a:rPr b="1" dirty="0"/>
              <a:t>Summary:</a:t>
            </a:r>
          </a:p>
          <a:p>
            <a:pPr algn="l">
              <a:defRPr sz="1400"/>
            </a:pPr>
            <a:r>
              <a:rPr dirty="0"/>
              <a:t>Three models were tested to predict ticket prices: Dummy Regressor (baseline), Linear Regression, and Random Forest.</a:t>
            </a:r>
          </a:p>
          <a:p>
            <a:pPr algn="l">
              <a:defRPr sz="1400"/>
            </a:pPr>
            <a:r>
              <a:rPr dirty="0"/>
              <a:t>The Dummy model showed no predictive power (R² = 0).</a:t>
            </a:r>
          </a:p>
          <a:p>
            <a:pPr algn="l">
              <a:defRPr sz="1400"/>
            </a:pPr>
            <a:r>
              <a:rPr dirty="0"/>
              <a:t>Linear Regression achieved R² = 0.72 with average error ≈ $9.4.</a:t>
            </a:r>
          </a:p>
          <a:p>
            <a:pPr algn="l">
              <a:defRPr sz="1400"/>
            </a:pPr>
            <a:r>
              <a:rPr dirty="0"/>
              <a:t>Random Forest delivered R² = 0.74 with similar error ≈ $9.5 </a:t>
            </a:r>
            <a:r>
              <a:rPr b="1" dirty="0"/>
              <a:t>but better stability across features</a:t>
            </a:r>
            <a:r>
              <a:rPr dirty="0"/>
              <a:t>.</a:t>
            </a:r>
          </a:p>
          <a:p>
            <a:pPr algn="l">
              <a:defRPr sz="1400"/>
            </a:pPr>
            <a:r>
              <a:rPr dirty="0"/>
              <a:t>The Random Forest was selected for its consistent </a:t>
            </a:r>
            <a:r>
              <a:rPr b="1" dirty="0"/>
              <a:t>accuracy</a:t>
            </a:r>
            <a:r>
              <a:rPr dirty="0"/>
              <a:t> and </a:t>
            </a:r>
            <a:r>
              <a:rPr b="1" dirty="0"/>
              <a:t>robustness</a:t>
            </a:r>
            <a:r>
              <a:rPr dirty="0"/>
              <a:t>.</a:t>
            </a:r>
          </a:p>
          <a:p>
            <a:pPr algn="l">
              <a:defRPr sz="1400"/>
            </a:pPr>
            <a:r>
              <a:rPr dirty="0"/>
              <a:t>Predictions typically </a:t>
            </a:r>
            <a:r>
              <a:rPr b="1" dirty="0"/>
              <a:t>fell within ±</a:t>
            </a:r>
            <a:r>
              <a:rPr lang="en-US" b="1" dirty="0"/>
              <a:t> </a:t>
            </a:r>
            <a:r>
              <a:rPr b="1" dirty="0"/>
              <a:t>$10 of actual ticket prices</a:t>
            </a:r>
            <a:r>
              <a:rPr dirty="0"/>
              <a:t>.</a:t>
            </a:r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r>
              <a:rPr b="1" dirty="0"/>
              <a:t>Takeaway:</a:t>
            </a:r>
          </a:p>
          <a:p>
            <a:pPr algn="l">
              <a:defRPr sz="1400"/>
            </a:pPr>
            <a:r>
              <a:rPr b="1" dirty="0"/>
              <a:t>The final model accurately reflects real-world pricing patterns and is suitable for strategic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684"/>
            <a:ext cx="8229600" cy="1001210"/>
          </a:xfrm>
        </p:spPr>
        <p:txBody>
          <a:bodyPr/>
          <a:lstStyle/>
          <a:p>
            <a:r>
              <a:rPr dirty="0"/>
              <a:t>Scenario Modeling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3848"/>
            <a:ext cx="8229600" cy="5729468"/>
          </a:xfrm>
        </p:spPr>
        <p:txBody>
          <a:bodyPr/>
          <a:lstStyle/>
          <a:p>
            <a:pPr marL="0" indent="0" algn="l">
              <a:buNone/>
              <a:defRPr sz="1400"/>
            </a:pPr>
            <a:r>
              <a:rPr lang="en-US" sz="1800" b="1" u="sng" dirty="0"/>
              <a:t>Operational Decisions and Their Impact:</a:t>
            </a:r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endParaRPr lang="en-US" dirty="0"/>
          </a:p>
          <a:p>
            <a:pPr algn="l">
              <a:defRPr sz="1400"/>
            </a:pPr>
            <a:r>
              <a:rPr lang="en-US" dirty="0"/>
              <a:t>Scenarios were simulated using the trained model.</a:t>
            </a:r>
          </a:p>
          <a:p>
            <a:pPr algn="l">
              <a:defRPr sz="1400"/>
            </a:pPr>
            <a:r>
              <a:rPr lang="en-US" dirty="0"/>
              <a:t>Only expanding runs and adding a new lift showed material pricing improvement.</a:t>
            </a:r>
          </a:p>
          <a:p>
            <a:pPr algn="l">
              <a:defRPr sz="1400"/>
            </a:pPr>
            <a:r>
              <a:rPr lang="en-US" dirty="0"/>
              <a:t>Snow or length enhancements offered diminishing returns.</a:t>
            </a:r>
          </a:p>
          <a:p>
            <a:pPr algn="l">
              <a:defRPr sz="1400"/>
            </a:pPr>
            <a:r>
              <a:rPr lang="en-US" dirty="0"/>
              <a:t>The lift project is financially justified through clear value uplift.</a:t>
            </a:r>
          </a:p>
          <a:p>
            <a:pPr marL="0" indent="0" algn="l">
              <a:buNone/>
              <a:defRPr sz="1400"/>
            </a:pPr>
            <a:endParaRPr lang="en-US" dirty="0"/>
          </a:p>
          <a:p>
            <a:pPr marL="0" indent="0" algn="l">
              <a:buNone/>
              <a:defRPr sz="1400"/>
            </a:pPr>
            <a:r>
              <a:rPr lang="en-US" b="1" dirty="0"/>
              <a:t>Takeaway:</a:t>
            </a:r>
          </a:p>
          <a:p>
            <a:pPr algn="l">
              <a:defRPr sz="1400"/>
            </a:pPr>
            <a:r>
              <a:rPr lang="en-US" b="1" dirty="0"/>
              <a:t>Infrastructure investment — especially in lift capacity — provides the strongest ROI leverage for Big Mountain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E3454-D7C9-CEE1-C6B6-FEDEC9CE1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782753"/>
              </p:ext>
            </p:extLst>
          </p:nvPr>
        </p:nvGraphicFramePr>
        <p:xfrm>
          <a:off x="911506" y="1584124"/>
          <a:ext cx="7320987" cy="2521630"/>
        </p:xfrm>
        <a:graphic>
          <a:graphicData uri="http://schemas.openxmlformats.org/drawingml/2006/table">
            <a:tbl>
              <a:tblPr firstRow="1" firstCol="1" bandRow="1"/>
              <a:tblGrid>
                <a:gridCol w="3834487">
                  <a:extLst>
                    <a:ext uri="{9D8B030D-6E8A-4147-A177-3AD203B41FA5}">
                      <a16:colId xmlns:a16="http://schemas.microsoft.com/office/drawing/2014/main" val="1938426362"/>
                    </a:ext>
                  </a:extLst>
                </a:gridCol>
                <a:gridCol w="3486500">
                  <a:extLst>
                    <a:ext uri="{9D8B030D-6E8A-4147-A177-3AD203B41FA5}">
                      <a16:colId xmlns:a16="http://schemas.microsoft.com/office/drawing/2014/main" val="3851452949"/>
                    </a:ext>
                  </a:extLst>
                </a:gridCol>
              </a:tblGrid>
              <a:tr h="504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b="1" kern="100" dirty="0">
                          <a:effectLst/>
                        </a:rPr>
                        <a:t>Scenario</a:t>
                      </a:r>
                      <a:endParaRPr lang="en-NG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b="1" kern="100" dirty="0">
                          <a:effectLst/>
                        </a:rPr>
                        <a:t>Effect</a:t>
                      </a:r>
                      <a:endParaRPr lang="en-NG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6517338"/>
                  </a:ext>
                </a:extLst>
              </a:tr>
              <a:tr h="504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❌ Close runs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Reduces value and visitor appeal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2063801"/>
                  </a:ext>
                </a:extLst>
              </a:tr>
              <a:tr h="504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✅ Add new run + high-speed lift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Strong return on investment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79540407"/>
                  </a:ext>
                </a:extLst>
              </a:tr>
              <a:tr h="504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>
                          <a:effectLst/>
                        </a:rPr>
                        <a:t>⚪ Expand snow coverage</a:t>
                      </a:r>
                      <a:endParaRPr lang="en-NG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Minor benefit to perceived value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9154468"/>
                  </a:ext>
                </a:extLst>
              </a:tr>
              <a:tr h="504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>
                          <a:effectLst/>
                        </a:rPr>
                        <a:t>⚪ Extend longest run</a:t>
                      </a:r>
                      <a:endParaRPr lang="en-NG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G" sz="1400" kern="100" dirty="0">
                          <a:effectLst/>
                        </a:rPr>
                        <a:t>Negligible change in pricing</a:t>
                      </a:r>
                      <a:endParaRPr lang="en-NG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00141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305B-C054-40FF-7A02-ACAAA02F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Summary &amp; Conclusion</a:t>
            </a:r>
            <a:br>
              <a:rPr lang="en-US" b="1" dirty="0"/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2902E-6A2F-5379-4CD4-05528C92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5267"/>
            <a:ext cx="8229600" cy="550809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500" b="1" u="sng" dirty="0"/>
              <a:t>Strategic Takeaways and Next Steps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r>
              <a:rPr lang="en-US" b="1" dirty="0"/>
              <a:t>Pricing Review Outcome:</a:t>
            </a:r>
            <a:br>
              <a:rPr lang="en-US" dirty="0"/>
            </a:br>
            <a:r>
              <a:rPr lang="en-US" dirty="0"/>
              <a:t>Big Mountain’s current ticket price (</a:t>
            </a:r>
            <a:r>
              <a:rPr lang="en-US" b="1" dirty="0"/>
              <a:t>$81</a:t>
            </a:r>
            <a:r>
              <a:rPr lang="en-US" dirty="0"/>
              <a:t>) is </a:t>
            </a:r>
            <a:r>
              <a:rPr lang="en-US" b="1" dirty="0"/>
              <a:t>above the national median ($60)</a:t>
            </a:r>
            <a:r>
              <a:rPr lang="en-US" dirty="0"/>
              <a:t> but </a:t>
            </a:r>
            <a:r>
              <a:rPr lang="en-US" b="1" dirty="0"/>
              <a:t>below its modeled fair value (~$96)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Facility strength — not geography — is the main determinant of value and pricing power.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Financial Impact: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data-driven price realignment to $92–$95</a:t>
            </a:r>
            <a:r>
              <a:rPr lang="en-US" dirty="0"/>
              <a:t> can generate approximately </a:t>
            </a:r>
            <a:r>
              <a:rPr lang="en-US" b="1" dirty="0"/>
              <a:t>$3.5 million in additional seasonal revenue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ROI Validation:</a:t>
            </a:r>
            <a:br>
              <a:rPr lang="en-US" dirty="0"/>
            </a:br>
            <a:r>
              <a:rPr lang="en-US" dirty="0"/>
              <a:t>The new </a:t>
            </a:r>
            <a:r>
              <a:rPr lang="en-US" b="1" dirty="0"/>
              <a:t>high-speed lift</a:t>
            </a:r>
            <a:r>
              <a:rPr lang="en-US" dirty="0"/>
              <a:t> provides the strongest measurable return, enhancing both </a:t>
            </a:r>
            <a:r>
              <a:rPr lang="en-US" b="1" dirty="0"/>
              <a:t>capacity</a:t>
            </a:r>
            <a:r>
              <a:rPr lang="en-US" dirty="0"/>
              <a:t> and </a:t>
            </a:r>
            <a:r>
              <a:rPr lang="en-US" b="1" dirty="0"/>
              <a:t>price justification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Strategic Direction:</a:t>
            </a:r>
            <a:br>
              <a:rPr lang="en-US" dirty="0"/>
            </a:br>
            <a:r>
              <a:rPr lang="en-US" dirty="0"/>
              <a:t>Adopt a </a:t>
            </a:r>
            <a:r>
              <a:rPr lang="en-US" b="1" dirty="0"/>
              <a:t>value-based pricing strategy</a:t>
            </a:r>
            <a:r>
              <a:rPr lang="en-US" dirty="0"/>
              <a:t> supported by </a:t>
            </a:r>
            <a:r>
              <a:rPr lang="en-US" b="1" dirty="0"/>
              <a:t>brand repositioning</a:t>
            </a:r>
            <a:r>
              <a:rPr lang="en-US" dirty="0"/>
              <a:t> and </a:t>
            </a:r>
            <a:r>
              <a:rPr lang="en-US" b="1" dirty="0"/>
              <a:t>infrastructure investment</a:t>
            </a:r>
            <a:r>
              <a:rPr lang="en-US" dirty="0"/>
              <a:t> to sustain long-term competitiveness.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500" b="1" u="sng" dirty="0"/>
              <a:t>Closing Statement:</a:t>
            </a:r>
            <a:endParaRPr lang="en-US" sz="4500" u="sng" dirty="0"/>
          </a:p>
          <a:p>
            <a:r>
              <a:rPr lang="en-US" sz="4500" i="1" dirty="0"/>
              <a:t>Big Mountain is well-positioned to move from a locally premium resort to a regionally recognized leader — by aligning its pricing with the value it already delivers.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0816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770</Words>
  <Application>Microsoft Office PowerPoint</Application>
  <PresentationFormat>On-screen Show (4:3)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Problem Identification</vt:lpstr>
      <vt:lpstr>PowerPoint Presentation</vt:lpstr>
      <vt:lpstr>Data &amp; Project Scope</vt:lpstr>
      <vt:lpstr>Model Findings &amp; Recommendation</vt:lpstr>
      <vt:lpstr>Key Pricing Drivers</vt:lpstr>
      <vt:lpstr>Model Performance</vt:lpstr>
      <vt:lpstr>Scenario Modeling &amp; ROI</vt:lpstr>
      <vt:lpstr> Summary &amp; 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Michael J</dc:creator>
  <cp:keywords/>
  <dc:description>generated using python-pptx</dc:description>
  <cp:lastModifiedBy>Michael J</cp:lastModifiedBy>
  <cp:revision>2</cp:revision>
  <dcterms:created xsi:type="dcterms:W3CDTF">2013-01-27T09:14:16Z</dcterms:created>
  <dcterms:modified xsi:type="dcterms:W3CDTF">2025-11-05T22:35:42Z</dcterms:modified>
  <cp:category/>
</cp:coreProperties>
</file>